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Proxima Nova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1b1c513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2" name="Google Shape;102;g3a1b1c513c5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1b1c513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8" name="Google Shape;108;g3a1b1c513c5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1b1c513c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4" name="Google Shape;114;g3a1b1c513c5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1b1c513c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0" name="Google Shape;120;g3a1b1c513c5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1b1c513c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6" name="Google Shape;126;g3a1b1c513c5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1b1c513c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2" name="Google Shape;132;g3a1b1c513c5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b1c513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9" name="Google Shape;139;g3a1b1c513c5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451dd550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6" name="Google Shape;146;g3b451dd5501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b1c513c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3" name="Google Shape;153;g3a1b1c513c5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679d3a8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0" name="Google Shape;160;g38679d3a8f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b1c513c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7" name="Google Shape;167;g3a1b1c513c5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451dd550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4" name="Google Shape;174;g3b451dd5501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451dd550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1" name="Google Shape;181;g3b451dd5501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451dd550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8" name="Google Shape;188;g3b451dd5501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1b1c513c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5" name="Google Shape;195;g3a1b1c513c5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1b1c513c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02" name="Google Shape;202;g3a1b1c513c5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1b1c513c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08" name="Google Shape;208;g3a1b1c513c5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hyperlink" Target="http://drive.google.com/file/d/1i_H-v6zz9uAsmQuVjHDMCRsbAkWQRKcy/view" TargetMode="External"/><Relationship Id="rId5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hyperlink" Target="http://drive.google.com/file/d/1x1SbyVDh9LBQielJbGmlzmbPcmL31Q1w/view" TargetMode="External"/><Relationship Id="rId5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/>
        </p:nvSpPr>
        <p:spPr>
          <a:xfrm>
            <a:off x="3102950" y="3666725"/>
            <a:ext cx="667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Team Member 1: </a:t>
            </a:r>
            <a:r>
              <a:rPr lang="en-U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PREYA SANGHVI</a:t>
            </a:r>
            <a:r>
              <a:rPr b="0" i="0" lang="en-US" sz="1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</a:t>
            </a:r>
            <a:r>
              <a:rPr lang="en-U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92200103119)</a:t>
            </a:r>
            <a:r>
              <a:rPr b="0" i="0" lang="en-US" sz="1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</a:t>
            </a:r>
            <a:r>
              <a:rPr lang="en-U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TC3</a:t>
            </a:r>
            <a:r>
              <a:rPr b="0" i="0" lang="en-US" sz="1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Team Member 2: </a:t>
            </a:r>
            <a:r>
              <a:rPr lang="en-U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VIDHISHA MARADIYA</a:t>
            </a:r>
            <a:r>
              <a:rPr lang="en-U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(92200103102) (TC3)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Team Member 3: </a:t>
            </a:r>
            <a:r>
              <a:rPr lang="en-U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MITRAJSINH JADEJA</a:t>
            </a:r>
            <a:r>
              <a:rPr lang="en-U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(92200103096) (TC3)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1037650" y="2548325"/>
            <a:ext cx="103533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 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/>
              <a:buNone/>
            </a:pPr>
            <a:r>
              <a:rPr lang="en-US" sz="21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AI-Powered Waste Segregation using Computer Vision &amp; Machine Learning</a:t>
            </a:r>
            <a:endParaRPr sz="2100">
              <a:solidFill>
                <a:srgbClr val="04A2B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/>
              <a:buNone/>
            </a:pPr>
            <a:r>
              <a:rPr b="0" i="0" lang="en-US" sz="2200" u="none" cap="none" strike="noStrike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Team ID: </a:t>
            </a:r>
            <a:r>
              <a:rPr lang="en-U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8PRO_046</a:t>
            </a:r>
            <a:endParaRPr b="0" i="0" sz="2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5589106" y="4603092"/>
            <a:ext cx="12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Guided By</a:t>
            </a:r>
            <a:endParaRPr b="0" i="0" sz="1800" u="none" cap="none" strike="noStrike">
              <a:solidFill>
                <a:srgbClr val="59595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120076" y="4908362"/>
            <a:ext cx="574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Internal Guide Name: </a:t>
            </a:r>
            <a:r>
              <a:rPr lang="en-U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Prof. Dhara Joshi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151250" y="1302075"/>
            <a:ext cx="8148000" cy="15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/>
              <a:buNone/>
            </a:pPr>
            <a:r>
              <a:rPr b="1" i="0" lang="en-US" sz="3200" u="none" cap="none" strike="noStrike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Major Project-II (01CE0807), Semester 8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/>
              <a:buNone/>
            </a:pPr>
            <a:r>
              <a:rPr b="0" i="0" lang="en-US" sz="2200" u="none" cap="none" strike="noStrike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Review </a:t>
            </a:r>
            <a:r>
              <a:rPr lang="en-US" sz="22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0" i="0" lang="en-US" sz="2200" u="none" cap="none" strike="noStrike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br>
              <a:rPr b="0" i="0" lang="en-US" sz="2200" u="none" cap="none" strike="noStrike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U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0" i="0" lang="en-US" sz="2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/</a:t>
            </a:r>
            <a:r>
              <a:rPr lang="en-U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b="0" i="0" lang="en-US" sz="2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/</a:t>
            </a:r>
            <a:r>
              <a:rPr lang="en-U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2026</a:t>
            </a:r>
            <a:br>
              <a:rPr b="0" i="0" lang="en-US" sz="2200" u="none" cap="none" strike="noStrike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b="0" i="0" sz="2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293191" y="5643518"/>
            <a:ext cx="82974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0" i="0" lang="en-US" sz="2200" u="none" cap="none" strike="noStrike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Department of Computer Engineering,</a:t>
            </a:r>
            <a:br>
              <a:rPr b="0" i="0" lang="en-US" sz="2200" u="none" cap="none" strike="noStrike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0" i="0" lang="en-US" sz="2200" u="none" cap="none" strike="noStrike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Faculty of Engineering &amp; Technology</a:t>
            </a:r>
            <a:r>
              <a:rPr b="0" i="0" lang="en-US" sz="3400" u="none" cap="none" strike="noStrike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0" i="0" sz="3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534259" y="309562"/>
            <a:ext cx="2320909" cy="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Introduction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47705" y="1653975"/>
            <a:ext cx="106125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chemeClr val="dk1"/>
                </a:solidFill>
              </a:rPr>
              <a:t>Waste management is a growing environmental concern in modern urban areas.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chemeClr val="dk1"/>
                </a:solidFill>
              </a:rPr>
              <a:t>Improper segregation of waste leads to pollution, increased landfill usage, and reduced recycling efficiency.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chemeClr val="dk1"/>
                </a:solidFill>
              </a:rPr>
              <a:t>Manual sorting is time-consuming, inconsistent, and exposes workers to health risks.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chemeClr val="dk1"/>
                </a:solidFill>
              </a:rPr>
              <a:t>Artificial Intelligence (AI) and Machine Learning (ML) can automate this process using image-based recognition techniques.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chemeClr val="dk1"/>
                </a:solidFill>
              </a:rPr>
              <a:t>By combining Computer Vision with deep learning models, waste materials such as plastic, glass, paper, metal, and cardboard can be accurately identified and categorized.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534247" y="309550"/>
            <a:ext cx="306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 statement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35129" y="1676025"/>
            <a:ext cx="102264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chemeClr val="dk1"/>
                </a:solidFill>
              </a:rPr>
              <a:t>Increasing waste generation and poor segregation practices cause major environmental and health concerns.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chemeClr val="dk1"/>
                </a:solidFill>
              </a:rPr>
              <a:t>Manual waste sorting is time-consuming, unsafe, and often inaccurate.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chemeClr val="dk1"/>
                </a:solidFill>
              </a:rPr>
              <a:t>Mixing of recyc</a:t>
            </a:r>
            <a:r>
              <a:rPr lang="en-US" sz="1800">
                <a:solidFill>
                  <a:schemeClr val="dk1"/>
                </a:solidFill>
              </a:rPr>
              <a:t>lable and non-recyclable materials reduces recycling efficiency.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chemeClr val="dk1"/>
                </a:solidFill>
              </a:rPr>
              <a:t>Most existing waste classification systems lack real-time performance and robustness in diverse conditions.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chemeClr val="dk1"/>
                </a:solidFill>
              </a:rPr>
              <a:t>There is a strong need for an AI-driven automated system that can accurately identify and segregate waste materials using image-based learning.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534247" y="309550"/>
            <a:ext cx="306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Objectives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624104" y="1510625"/>
            <a:ext cx="10226400" cy="4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800">
                <a:solidFill>
                  <a:schemeClr val="dk1"/>
                </a:solidFill>
              </a:rPr>
              <a:t>Develop an AI-powered system for automatic waste classification.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800">
                <a:solidFill>
                  <a:schemeClr val="dk1"/>
                </a:solidFill>
              </a:rPr>
              <a:t>Analyse a dataset of waste images representing key categories (plastic, paper, metal, glass, cardboard, trash).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800">
                <a:solidFill>
                  <a:schemeClr val="dk1"/>
                </a:solidFill>
              </a:rPr>
              <a:t>Apply Computer Vision and ML models (CNNs, ViTs) for waste recognition.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800">
                <a:solidFill>
                  <a:schemeClr val="dk1"/>
                </a:solidFill>
              </a:rPr>
              <a:t>Evaluate model performance using accuracy, precision, recall, and F1-score.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800">
                <a:solidFill>
                  <a:schemeClr val="dk1"/>
                </a:solidFill>
              </a:rPr>
              <a:t>Design a web-based interface for real-time waste segregation and result display.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800">
                <a:solidFill>
                  <a:schemeClr val="dk1"/>
                </a:solidFill>
              </a:rPr>
              <a:t>Explore few-shot learning for classifying new waste types with minimal data.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534247" y="309550"/>
            <a:ext cx="306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Literature Review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50" y="1049900"/>
            <a:ext cx="11817852" cy="572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534247" y="309550"/>
            <a:ext cx="306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Literature Review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800" y="1060925"/>
            <a:ext cx="11731348" cy="565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534247" y="309550"/>
            <a:ext cx="306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Literature Review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725" y="1060925"/>
            <a:ext cx="11753399" cy="568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534247" y="309550"/>
            <a:ext cx="306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Workflow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485125" y="1334125"/>
            <a:ext cx="5183400" cy="5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Image Input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Accept images as input for processing.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Feature Extraction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Extract relevant features from processed images.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Model Training &amp; Classification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Train a machine learning model to classify input data.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Output Generation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Produce classification results based on model predictions.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Result Display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Display predicted class and confidence score.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0850" y="1093200"/>
            <a:ext cx="3183075" cy="569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534247" y="309550"/>
            <a:ext cx="306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 Overview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716650" y="1499500"/>
            <a:ext cx="4356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Dataset Type:</a:t>
            </a:r>
            <a:r>
              <a:rPr lang="en-US" sz="1800">
                <a:solidFill>
                  <a:schemeClr val="dk1"/>
                </a:solidFill>
              </a:rPr>
              <a:t> Synthetic text-based dataset containing </a:t>
            </a:r>
            <a:r>
              <a:rPr lang="en-US" sz="1800">
                <a:solidFill>
                  <a:schemeClr val="dk1"/>
                </a:solidFill>
              </a:rPr>
              <a:t>1000 records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Each record represents an individual waste item with descriptive and visual attributes.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The dataset is structured to enable both supervised learning and few-shot learning experiments.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Data collected from open repositories (e.g., TrashNet, TACO) and synthetically generated for diversity.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3825" y="997075"/>
            <a:ext cx="4476450" cy="571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534247" y="309550"/>
            <a:ext cx="306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 Overview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7275" y="1056850"/>
            <a:ext cx="6652000" cy="56070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>
            <a:off x="436175" y="1587563"/>
            <a:ext cx="41574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Dataset Type:</a:t>
            </a:r>
            <a:r>
              <a:rPr lang="en-US" sz="1600">
                <a:solidFill>
                  <a:schemeClr val="dk1"/>
                </a:solidFill>
              </a:rPr>
              <a:t> Image-based waste classification dataset composed of labeled RGB images used for supervised machine learning tasks.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Each record:</a:t>
            </a:r>
            <a:r>
              <a:rPr lang="en-US" sz="1600">
                <a:solidFill>
                  <a:schemeClr val="dk1"/>
                </a:solidFill>
              </a:rPr>
              <a:t> Corresponds to a single waste item image annotated with a categorical class label representing the waste material type.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The dataset:</a:t>
            </a:r>
            <a:r>
              <a:rPr lang="en-US" sz="1600">
                <a:solidFill>
                  <a:schemeClr val="dk1"/>
                </a:solidFill>
              </a:rPr>
              <a:t> Is organized into training, validation, and testing subsets to enable model training, performance evaluation, and generalization assessment.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Data source:</a:t>
            </a:r>
            <a:r>
              <a:rPr lang="en-US" sz="1600">
                <a:solidFill>
                  <a:schemeClr val="dk1"/>
                </a:solidFill>
              </a:rPr>
              <a:t> </a:t>
            </a:r>
            <a:r>
              <a:rPr lang="en-US" sz="1600">
                <a:solidFill>
                  <a:schemeClr val="dk1"/>
                </a:solidFill>
              </a:rPr>
              <a:t>Images are collected from publicly available repositories and curated datasets, with additional augmentation applied to improve diversity.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534245" y="309550"/>
            <a:ext cx="365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Evaluation </a:t>
            </a: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Metrics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646113" y="1124744"/>
            <a:ext cx="30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9975" y="1398675"/>
            <a:ext cx="6234400" cy="507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534245" y="309550"/>
            <a:ext cx="365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Evaluation Metrics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646113" y="1124744"/>
            <a:ext cx="30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125" y="1630625"/>
            <a:ext cx="10029950" cy="492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534245" y="309550"/>
            <a:ext cx="365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Results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646113" y="1124744"/>
            <a:ext cx="30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411950" y="1124750"/>
            <a:ext cx="10736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trained model successfully predicts the type of waste item from input images.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Output includes the predicted waste category along with confidence score.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 video demonstration showcases real-time prediction using uploaded images.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results validate the effectiveness of the proposed waste classification system.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534249" y="309550"/>
            <a:ext cx="8554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Results- image uploaded (taken from dataset records)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646113" y="1124744"/>
            <a:ext cx="30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7" title="glass prediction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068950"/>
            <a:ext cx="11868624" cy="56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534254" y="309550"/>
            <a:ext cx="6603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Results- image uploaded (taken from google)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646113" y="1124744"/>
            <a:ext cx="30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8" title="waste image from google prediction 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250" y="1175300"/>
            <a:ext cx="11159626" cy="522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534245" y="309550"/>
            <a:ext cx="365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Conclusion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646113" y="1124744"/>
            <a:ext cx="30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 txBox="1"/>
          <p:nvPr/>
        </p:nvSpPr>
        <p:spPr>
          <a:xfrm>
            <a:off x="387725" y="1282300"/>
            <a:ext cx="107367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This project demonstrates an AI-based approach for automatic waste classification using image data.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system achieves high accuracy and reliable performance on validation datasets.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Automated waste classification can reduce manual sorting efforts and improve recycling efficiency.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developed solution highlights the practical application of machine learning in sustainable waste management.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534245" y="309550"/>
            <a:ext cx="365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Future Work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646113" y="1124744"/>
            <a:ext cx="30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462100" y="1408275"/>
            <a:ext cx="10134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Extend the system to include more waste categories for finer classification.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Train the model on larger and more diverse real-world datasets.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Integrate real-time camera-based classification for live waste detection.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Deploy the application on cloud or mobile platforms for wider accessibility.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534247" y="309550"/>
            <a:ext cx="306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References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352800" y="1176600"/>
            <a:ext cx="11379900" cy="5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[1] R. Sharma and A. Gupta, “Automatic Waste Classification Using CNN on TrashNet Dataset,” </a:t>
            </a:r>
            <a:r>
              <a:rPr i="1" lang="en-US" sz="1800">
                <a:solidFill>
                  <a:schemeClr val="dk1"/>
                </a:solidFill>
              </a:rPr>
              <a:t>International Journal of Computer Applications</a:t>
            </a:r>
            <a:r>
              <a:rPr lang="en-US" sz="1800">
                <a:solidFill>
                  <a:schemeClr val="dk1"/>
                </a:solidFill>
              </a:rPr>
              <a:t>, 2021.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[2] S. Kumar and R. Nair, “IoT-Enabled Smart Waste Bin Using Machine Learning,” </a:t>
            </a:r>
            <a:r>
              <a:rPr i="1" lang="en-US" sz="1800">
                <a:solidFill>
                  <a:schemeClr val="dk1"/>
                </a:solidFill>
              </a:rPr>
              <a:t>IEEE Access</a:t>
            </a:r>
            <a:r>
              <a:rPr lang="en-US" sz="1800">
                <a:solidFill>
                  <a:schemeClr val="dk1"/>
                </a:solidFill>
              </a:rPr>
              <a:t>, 2022.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[3] H. Li and Y. Zhang, “Transfer Learning for Waste Image Classification Using ResNet and EfficientNet,” </a:t>
            </a:r>
            <a:r>
              <a:rPr i="1" lang="en-US" sz="1800">
                <a:solidFill>
                  <a:schemeClr val="dk1"/>
                </a:solidFill>
              </a:rPr>
              <a:t>Applied Intelligence</a:t>
            </a:r>
            <a:r>
              <a:rPr lang="en-US" sz="1800">
                <a:solidFill>
                  <a:schemeClr val="dk1"/>
                </a:solidFill>
              </a:rPr>
              <a:t>, 2023.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[4] M. Patel and P. Desai, “Efficient Net-Based Classification of Recyclable Materials,” </a:t>
            </a:r>
            <a:r>
              <a:rPr i="1" lang="en-US" sz="1800">
                <a:solidFill>
                  <a:schemeClr val="dk1"/>
                </a:solidFill>
              </a:rPr>
              <a:t>Journal of Environmental Informatics</a:t>
            </a:r>
            <a:r>
              <a:rPr lang="en-US" sz="1800">
                <a:solidFill>
                  <a:schemeClr val="dk1"/>
                </a:solidFill>
              </a:rPr>
              <a:t>, 2022.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[5] A. Das and R. Meena, “Vision Transformers for Smart Waste Segregation,” </a:t>
            </a:r>
            <a:r>
              <a:rPr i="1" lang="en-US" sz="1800">
                <a:solidFill>
                  <a:schemeClr val="dk1"/>
                </a:solidFill>
              </a:rPr>
              <a:t>Sensors</a:t>
            </a:r>
            <a:r>
              <a:rPr lang="en-US" sz="1800">
                <a:solidFill>
                  <a:schemeClr val="dk1"/>
                </a:solidFill>
              </a:rPr>
              <a:t>, 2023.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[6] T. Singh and V. Joshi, “Multi-Modal Fusion of Vision and Sensor Data for Waste Classification,” </a:t>
            </a:r>
            <a:r>
              <a:rPr i="1" lang="en-US" sz="1800">
                <a:solidFill>
                  <a:schemeClr val="dk1"/>
                </a:solidFill>
              </a:rPr>
              <a:t>Waste Management</a:t>
            </a:r>
            <a:r>
              <a:rPr lang="en-US" sz="1800">
                <a:solidFill>
                  <a:schemeClr val="dk1"/>
                </a:solidFill>
              </a:rPr>
              <a:t>, 2022.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[7] A. Raj and P. Kumar, “Edge AI-Based Waste Sorting Using Raspberry Pi,” </a:t>
            </a:r>
            <a:r>
              <a:rPr i="1" lang="en-US" sz="1800">
                <a:solidFill>
                  <a:schemeClr val="dk1"/>
                </a:solidFill>
              </a:rPr>
              <a:t>Procedia Computer Science</a:t>
            </a:r>
            <a:r>
              <a:rPr lang="en-US" sz="1800">
                <a:solidFill>
                  <a:schemeClr val="dk1"/>
                </a:solidFill>
              </a:rPr>
              <a:t>, 2021.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[8] L. Ahmed and S. Sharma, “Embedded Systems for Real-Time Waste Segregation Using YOLOv5,” </a:t>
            </a:r>
            <a:r>
              <a:rPr i="1" lang="en-US" sz="1800">
                <a:solidFill>
                  <a:schemeClr val="dk1"/>
                </a:solidFill>
              </a:rPr>
              <a:t>IEEE Sensors Journal</a:t>
            </a:r>
            <a:r>
              <a:rPr lang="en-US" sz="1800">
                <a:solidFill>
                  <a:schemeClr val="dk1"/>
                </a:solidFill>
              </a:rPr>
              <a:t>, 2023.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534247" y="309550"/>
            <a:ext cx="306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/>
              <a:buNone/>
            </a:pPr>
            <a:r>
              <a:rPr b="1" lang="en-US" sz="2400">
                <a:solidFill>
                  <a:srgbClr val="04A2B9"/>
                </a:solidFill>
                <a:latin typeface="Proxima Nova"/>
                <a:ea typeface="Proxima Nova"/>
                <a:cs typeface="Proxima Nova"/>
                <a:sym typeface="Proxima Nova"/>
              </a:rPr>
              <a:t>References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406050" y="1080525"/>
            <a:ext cx="11379900" cy="5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[9] D. Lee and J. Park, “Few-Shot Learning Approaches for Waste Image Classification,” </a:t>
            </a:r>
            <a:r>
              <a:rPr i="1" lang="en-US" sz="1800">
                <a:solidFill>
                  <a:schemeClr val="dk1"/>
                </a:solidFill>
              </a:rPr>
              <a:t>Pattern Recognition Letters</a:t>
            </a:r>
            <a:r>
              <a:rPr lang="en-US" sz="1800">
                <a:solidFill>
                  <a:schemeClr val="dk1"/>
                </a:solidFill>
              </a:rPr>
              <a:t>, 2023.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[10] K. Verma and D. Shah, “Comparative Analysis of ML Algorithms for Waste Segregation,” </a:t>
            </a:r>
            <a:r>
              <a:rPr i="1" lang="en-US" sz="1800">
                <a:solidFill>
                  <a:schemeClr val="dk1"/>
                </a:solidFill>
              </a:rPr>
              <a:t>International Journal of AI Research</a:t>
            </a:r>
            <a:r>
              <a:rPr lang="en-US" sz="1800">
                <a:solidFill>
                  <a:schemeClr val="dk1"/>
                </a:solidFill>
              </a:rPr>
              <a:t>, 2021.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[11] N. Mehta and H. Patel, “Hybrid Deep Learning Framework for Solid Waste Classification,” </a:t>
            </a:r>
            <a:r>
              <a:rPr i="1" lang="en-US" sz="1800">
                <a:solidFill>
                  <a:schemeClr val="dk1"/>
                </a:solidFill>
              </a:rPr>
              <a:t>Expert Systems with Applications</a:t>
            </a:r>
            <a:r>
              <a:rPr lang="en-US" sz="1800">
                <a:solidFill>
                  <a:schemeClr val="dk1"/>
                </a:solidFill>
              </a:rPr>
              <a:t>, 2022.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[12] P. Nguyen and Q. Tran, “Synthetic Image Generation for Waste Classification Using GANs,” </a:t>
            </a:r>
            <a:r>
              <a:rPr i="1" lang="en-US" sz="1800">
                <a:solidFill>
                  <a:schemeClr val="dk1"/>
                </a:solidFill>
              </a:rPr>
              <a:t>Computers and Electrical Engineering</a:t>
            </a:r>
            <a:r>
              <a:rPr lang="en-US" sz="1800">
                <a:solidFill>
                  <a:schemeClr val="dk1"/>
                </a:solidFill>
              </a:rPr>
              <a:t>, 2023.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[13] L. Chen and X. Zhao, “Data Augmentation Strategies for Waste Segregation Models,” </a:t>
            </a:r>
            <a:r>
              <a:rPr i="1" lang="en-US" sz="1800">
                <a:solidFill>
                  <a:schemeClr val="dk1"/>
                </a:solidFill>
              </a:rPr>
              <a:t>IEEE Transactions on Image Processing</a:t>
            </a:r>
            <a:r>
              <a:rPr lang="en-US" sz="1800">
                <a:solidFill>
                  <a:schemeClr val="dk1"/>
                </a:solidFill>
              </a:rPr>
              <a:t>, 2022.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[14] J. Patel and K. Deshmukh, “Smart Waste Bin with Real-Time Image Classification Interface,” </a:t>
            </a:r>
            <a:r>
              <a:rPr i="1" lang="en-US" sz="1800">
                <a:solidFill>
                  <a:schemeClr val="dk1"/>
                </a:solidFill>
              </a:rPr>
              <a:t>Journal of Smart Cities</a:t>
            </a:r>
            <a:r>
              <a:rPr lang="en-US" sz="1800">
                <a:solidFill>
                  <a:schemeClr val="dk1"/>
                </a:solidFill>
              </a:rPr>
              <a:t>, 2023.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[15] M. Ali and R. Khan, “Integration of AI-Based Waste Sorting in Smart City Infrastructure,” </a:t>
            </a:r>
            <a:r>
              <a:rPr i="1" lang="en-US" sz="1800">
                <a:solidFill>
                  <a:schemeClr val="dk1"/>
                </a:solidFill>
              </a:rPr>
              <a:t>Sustainable Computing: Informatics and Systems</a:t>
            </a:r>
            <a:r>
              <a:rPr lang="en-US" sz="1800">
                <a:solidFill>
                  <a:schemeClr val="dk1"/>
                </a:solidFill>
              </a:rPr>
              <a:t>, 2022.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